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36C40C-BA6B-404A-9819-A459E303ED3E}" v="36" dt="2026-06-04T18:15:48.2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A31DC-A5D6-571C-C412-7B106F3AB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B005D1-60CA-1973-4BF3-ED344C68FD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C0F096F-DFDE-2132-9B16-74440D759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1F6B-D7A0-4147-85BF-0D09A0BB8AB9}" type="datetimeFigureOut">
              <a:rPr lang="pt-PT" smtClean="0"/>
              <a:t>04/06/2026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48759934-EE22-8AA1-3330-6570E515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6A9534D-4311-A7E8-C75F-C1D2634B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A1E3-61E9-4894-B4DB-CDC90371F37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65940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6A64A-4932-7839-331D-797E0B9B7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B077652-526F-2BD0-9E74-3B78B8805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51155E6-5385-5700-C77D-770C68742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1F6B-D7A0-4147-85BF-0D09A0BB8AB9}" type="datetimeFigureOut">
              <a:rPr lang="pt-PT" smtClean="0"/>
              <a:t>04/06/2026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FC37970-6417-75FD-D2C2-538B48CF1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127BC9D-8214-7FAE-11A0-CDD5AE8B6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A1E3-61E9-4894-B4DB-CDC90371F37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59572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782405-53FF-B348-16A3-F5DBC9C60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F85D2F5-97E7-A3D3-2C6A-D81EA88D9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7450C5D-CD96-67DE-0834-A2675C54E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1F6B-D7A0-4147-85BF-0D09A0BB8AB9}" type="datetimeFigureOut">
              <a:rPr lang="pt-PT" smtClean="0"/>
              <a:t>04/06/2026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C80359B-B1DD-3E68-0430-5EC2FE7BA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CE523D4-BEBC-7E75-F621-9AB018F3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A1E3-61E9-4894-B4DB-CDC90371F37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87859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6148A-3977-2886-8B4A-1DCBC6F0F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D35EEB3-7F64-F709-A4A7-C3B6A2E400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D332CFA-1CE8-8A69-F219-72847FA08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3BBE607-3B78-DEDA-5AC6-455CAD4F7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1F6B-D7A0-4147-85BF-0D09A0BB8AB9}" type="datetimeFigureOut">
              <a:rPr lang="pt-PT" smtClean="0"/>
              <a:t>04/06/2026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9AA0D88-613B-4205-3EFB-6B42FB34A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0B86FC6D-6D5E-7884-E0F8-E47DE5848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A1E3-61E9-4894-B4DB-CDC90371F37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3490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82668-5489-B298-94EF-026478A4B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82EB0E2-A522-E333-68DA-0463B5B44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970E1F0-C5CB-7D0C-F97E-12B5F6CE2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E5132EC1-4E5F-B17D-06BC-84EEE3E7B0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4E5C20EE-A005-9DEA-C9CE-6B2476835A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5F54A8D6-8703-DAE0-0575-0D29A2E85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1F6B-D7A0-4147-85BF-0D09A0BB8AB9}" type="datetimeFigureOut">
              <a:rPr lang="pt-PT" smtClean="0"/>
              <a:t>04/06/2026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AB07F32B-2D5C-15C3-466E-8B542D754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956685D7-A300-1121-792E-AEBD4B36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A1E3-61E9-4894-B4DB-CDC90371F37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16852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0D8EC-EAE6-79AE-1D4C-A7288117E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21DDDF5B-3EDB-66FF-7E84-FAD9FB290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1F6B-D7A0-4147-85BF-0D09A0BB8AB9}" type="datetimeFigureOut">
              <a:rPr lang="pt-PT" smtClean="0"/>
              <a:t>04/06/2026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4AA767A4-3C79-1C8A-7264-3079A016B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00E65F6A-950E-1B9D-BDFF-72C07BBBA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A1E3-61E9-4894-B4DB-CDC90371F37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83379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F182BA48-94D0-464F-0E1D-D542781B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1F6B-D7A0-4147-85BF-0D09A0BB8AB9}" type="datetimeFigureOut">
              <a:rPr lang="pt-PT" smtClean="0"/>
              <a:t>04/06/2026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18FD390F-1BF9-1D7A-153B-A2FB5C72E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3AAA027-CC43-10BF-4F46-1CEC64265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A1E3-61E9-4894-B4DB-CDC90371F37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79567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5496A4-2704-9FD8-BFBA-5CE76AF6F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3E02906-4E8C-D5A3-D225-2B6A09F80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A836C588-7711-AF6F-BF7C-EE35D3737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37E20EC-7915-2B38-7969-3EF27863B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1F6B-D7A0-4147-85BF-0D09A0BB8AB9}" type="datetimeFigureOut">
              <a:rPr lang="pt-PT" smtClean="0"/>
              <a:t>04/06/2026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8983DE8-0C4D-BFAF-6A65-C50E19A9B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F904A53-A745-879F-7B0D-CB3DD6C78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A1E3-61E9-4894-B4DB-CDC90371F37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7934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ABAA99-B712-3B7E-C230-3219EDCB0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B8B1E1C6-4D87-3C47-8BB0-9F4981EEB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F3382485-7F44-88A1-2577-CF8AD22D01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134F6DC3-A8A8-7729-28EA-63DFEF10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1F6B-D7A0-4147-85BF-0D09A0BB8AB9}" type="datetimeFigureOut">
              <a:rPr lang="pt-PT" smtClean="0"/>
              <a:t>04/06/2026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CFE64E0F-09B7-3B76-F259-7CFCEC5E1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3751D2C-8EE2-9D6A-1D68-8F3EF69F5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A1E3-61E9-4894-B4DB-CDC90371F37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30397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D53D2B-FC66-19EB-9964-A68E61183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7AA91250-3883-D4FE-8B01-D672CA9EB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4C8AEBC-D663-69DD-44B5-5F1B205DA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1F6B-D7A0-4147-85BF-0D09A0BB8AB9}" type="datetimeFigureOut">
              <a:rPr lang="pt-PT" smtClean="0"/>
              <a:t>04/06/2026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C2F2906-29A2-8A68-EF41-9ABC8EAA7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134E339-C587-B61A-3FFA-D334ABD01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A1E3-61E9-4894-B4DB-CDC90371F37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64046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21B49F-6252-8C3B-F2C6-72AF71423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01E3D02D-080F-96C3-4DFE-07C6339C7F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232CE6D-0650-6D06-0748-9CDFE2DCD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1F6B-D7A0-4147-85BF-0D09A0BB8AB9}" type="datetimeFigureOut">
              <a:rPr lang="pt-PT" smtClean="0"/>
              <a:t>04/06/2026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210D20F-22CB-3150-27D3-8BA09D5A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83BFD26-3EC2-D792-EF2C-E2DD876E6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68A1E3-61E9-4894-B4DB-CDC90371F37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29489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D6FF092F-DC30-B1B2-B4E4-8E103FE48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F77FB6A7-0B54-74FC-3CD8-FE5851A17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14341FA-88C3-2330-36D4-01F690122F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C91F6B-D7A0-4147-85BF-0D09A0BB8AB9}" type="datetimeFigureOut">
              <a:rPr lang="pt-PT" smtClean="0"/>
              <a:t>04/06/2026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C9ACD06-D53C-EAA1-A58A-E02495886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1C86E2E-4C2E-9C35-20B7-6A5DDC298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68A1E3-61E9-4894-B4DB-CDC90371F37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32357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4" descr="Lupa a mostrar desempenho em queda">
            <a:extLst>
              <a:ext uri="{FF2B5EF4-FFF2-40B4-BE49-F238E27FC236}">
                <a16:creationId xmlns:a16="http://schemas.microsoft.com/office/drawing/2014/main" id="{298333D2-AE87-8FB0-C3E9-E1BD0D23A9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80" r="1041" b="-3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1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A774F6-377D-856D-A20F-9BF0952E1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pt-PT" sz="4000" b="1"/>
              <a:t>Objetivos do Projeto</a:t>
            </a:r>
            <a:br>
              <a:rPr lang="pt-PT" sz="4000"/>
            </a:br>
            <a:endParaRPr lang="pt-PT" sz="4000"/>
          </a:p>
        </p:txBody>
      </p:sp>
      <p:sp>
        <p:nvSpPr>
          <p:cNvPr id="35" name="Marcador de Posição de Conteúdo 2">
            <a:extLst>
              <a:ext uri="{FF2B5EF4-FFF2-40B4-BE49-F238E27FC236}">
                <a16:creationId xmlns:a16="http://schemas.microsoft.com/office/drawing/2014/main" id="{CD59F0A6-955F-DB8C-EF32-90641D975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 lvl="0"/>
            <a:r>
              <a:rPr lang="pt-PT" sz="2000"/>
              <a:t>Processar documentos PDF, DOCX e TXT.</a:t>
            </a:r>
            <a:r>
              <a:rPr lang="pt-PT" sz="2000" b="1"/>
              <a:t> </a:t>
            </a:r>
            <a:endParaRPr lang="pt-PT" sz="2000"/>
          </a:p>
          <a:p>
            <a:pPr lvl="0"/>
            <a:r>
              <a:rPr lang="pt-PT" sz="2000"/>
              <a:t>Limpar e normalizar texto automaticamente. </a:t>
            </a:r>
          </a:p>
          <a:p>
            <a:pPr lvl="0"/>
            <a:r>
              <a:rPr lang="pt-PT" sz="2000"/>
              <a:t>Dividir o texto em chunks e gerar prompts.</a:t>
            </a:r>
            <a:r>
              <a:rPr lang="pt-PT" sz="2000" b="1"/>
              <a:t> </a:t>
            </a:r>
            <a:endParaRPr lang="pt-PT" sz="2000"/>
          </a:p>
          <a:p>
            <a:pPr lvl="0"/>
            <a:r>
              <a:rPr lang="pt-PT" sz="2000"/>
              <a:t>Integrar um SLM para processamento.</a:t>
            </a:r>
            <a:r>
              <a:rPr lang="pt-PT" sz="2000" b="1"/>
              <a:t> </a:t>
            </a:r>
            <a:endParaRPr lang="pt-PT" sz="2000"/>
          </a:p>
          <a:p>
            <a:pPr lvl="0"/>
            <a:r>
              <a:rPr lang="pt-PT" sz="2000"/>
              <a:t>Avaliar o impacto do pré-processamento nos resultados</a:t>
            </a:r>
            <a:r>
              <a:rPr lang="pt-PT" sz="2000" b="1"/>
              <a:t>. </a:t>
            </a:r>
            <a:endParaRPr lang="pt-PT" sz="2000"/>
          </a:p>
          <a:p>
            <a:endParaRPr lang="pt-PT" sz="2000"/>
          </a:p>
        </p:txBody>
      </p:sp>
    </p:spTree>
    <p:extLst>
      <p:ext uri="{BB962C8B-B14F-4D97-AF65-F5344CB8AC3E}">
        <p14:creationId xmlns:p14="http://schemas.microsoft.com/office/powerpoint/2010/main" val="222320946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95199994-21AE-49A2-BA0D-12E295989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F54333-3B7F-263D-E3BB-9F3F9336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9570" y="530578"/>
            <a:ext cx="4771178" cy="1160110"/>
          </a:xfrm>
        </p:spPr>
        <p:txBody>
          <a:bodyPr>
            <a:normAutofit/>
          </a:bodyPr>
          <a:lstStyle/>
          <a:p>
            <a:r>
              <a:rPr lang="pt-PT" sz="2400" b="1"/>
              <a:t> 1-Extração de Texto (extractor.py)</a:t>
            </a:r>
            <a:br>
              <a:rPr lang="pt-PT" sz="2400"/>
            </a:br>
            <a:endParaRPr lang="pt-PT" sz="240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A65C738-A1AD-C836-83D8-A0A40EB62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137762"/>
            <a:ext cx="5440195" cy="4469586"/>
          </a:xfrm>
          <a:custGeom>
            <a:avLst/>
            <a:gdLst/>
            <a:ahLst/>
            <a:cxnLst/>
            <a:rect l="l" t="t" r="r" b="b"/>
            <a:pathLst>
              <a:path w="4643496" h="5550370">
                <a:moveTo>
                  <a:pt x="81586" y="0"/>
                </a:moveTo>
                <a:lnTo>
                  <a:pt x="4561910" y="0"/>
                </a:lnTo>
                <a:cubicBezTo>
                  <a:pt x="4606969" y="0"/>
                  <a:pt x="4643496" y="36527"/>
                  <a:pt x="4643496" y="81586"/>
                </a:cubicBezTo>
                <a:lnTo>
                  <a:pt x="4643496" y="5468784"/>
                </a:lnTo>
                <a:cubicBezTo>
                  <a:pt x="4643496" y="5513843"/>
                  <a:pt x="4606969" y="5550370"/>
                  <a:pt x="4561910" y="5550370"/>
                </a:cubicBezTo>
                <a:lnTo>
                  <a:pt x="81586" y="5550370"/>
                </a:lnTo>
                <a:cubicBezTo>
                  <a:pt x="36527" y="5550370"/>
                  <a:pt x="0" y="5513843"/>
                  <a:pt x="0" y="5468784"/>
                </a:cubicBezTo>
                <a:lnTo>
                  <a:pt x="0" y="81586"/>
                </a:lnTo>
                <a:cubicBezTo>
                  <a:pt x="0" y="36527"/>
                  <a:pt x="36527" y="0"/>
                  <a:pt x="81586" y="0"/>
                </a:cubicBezTo>
                <a:close/>
              </a:path>
            </a:pathLst>
          </a:custGeom>
        </p:spPr>
      </p:pic>
      <p:sp>
        <p:nvSpPr>
          <p:cNvPr id="16" name="Arc 10">
            <a:extLst>
              <a:ext uri="{FF2B5EF4-FFF2-40B4-BE49-F238E27FC236}">
                <a16:creationId xmlns:a16="http://schemas.microsoft.com/office/drawing/2014/main" id="{A2C34835-4F79-4934-B151-D68E79764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9234D210-97B5-B5B5-E829-81A626ECA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9570" y="1825625"/>
            <a:ext cx="4771178" cy="4388908"/>
          </a:xfrm>
        </p:spPr>
        <p:txBody>
          <a:bodyPr>
            <a:normAutofit/>
          </a:bodyPr>
          <a:lstStyle/>
          <a:p>
            <a:r>
              <a:rPr lang="pt-PT" sz="2400"/>
              <a:t>Este módulo é responsável por converter diferentes formatos de ficheiros (PDF, DOCX e TXT) para texto bruto, permitindo a sua posterior manipulação na pipeline.</a:t>
            </a:r>
          </a:p>
          <a:p>
            <a:r>
              <a:rPr lang="pt-PT" sz="2400"/>
              <a:t>A aplicação identifica automaticamente o tipo de ficheiro e escolhe o método adequado de extração através da função principal </a:t>
            </a:r>
            <a:r>
              <a:rPr lang="pt-PT" sz="2400" err="1"/>
              <a:t>extract_text</a:t>
            </a:r>
            <a:r>
              <a:rPr lang="pt-PT" sz="2400"/>
              <a:t>():</a:t>
            </a:r>
          </a:p>
          <a:p>
            <a:endParaRPr lang="pt-PT" sz="2400"/>
          </a:p>
        </p:txBody>
      </p:sp>
    </p:spTree>
    <p:extLst>
      <p:ext uri="{BB962C8B-B14F-4D97-AF65-F5344CB8AC3E}">
        <p14:creationId xmlns:p14="http://schemas.microsoft.com/office/powerpoint/2010/main" val="244343300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17891482-C38A-4F0C-8183-0121632F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01CEB2-AFA9-D989-B6BA-82D03EE7A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0129" y="486184"/>
            <a:ext cx="6118403" cy="1325563"/>
          </a:xfrm>
        </p:spPr>
        <p:txBody>
          <a:bodyPr>
            <a:normAutofit/>
          </a:bodyPr>
          <a:lstStyle/>
          <a:p>
            <a:r>
              <a:rPr lang="pt-PT" sz="2800" b="1"/>
              <a:t>2-Limpeza e Normalização (cleaner.py)</a:t>
            </a:r>
            <a:br>
              <a:rPr lang="pt-PT" sz="2800"/>
            </a:br>
            <a:endParaRPr lang="pt-PT" sz="280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E3D46D9-68AD-4F19-15CA-048B76983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1106022"/>
            <a:ext cx="4100921" cy="1495363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CCC852F-F95A-E35B-B420-213243839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66" y="4130052"/>
            <a:ext cx="4072421" cy="1639545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B119126-0A48-E944-7DB8-3FECF0222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0129" y="1946684"/>
            <a:ext cx="611840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400"/>
              <a:t>Este módulo melhora a qualidade do texto antes do processamento pelo modelo, removendo ruídos e padronizando o conteúdo.</a:t>
            </a:r>
          </a:p>
          <a:p>
            <a:pPr marL="0" indent="0">
              <a:buNone/>
            </a:pPr>
            <a:r>
              <a:rPr lang="pt-PT" sz="2400" b="1"/>
              <a:t>Principais funções:</a:t>
            </a:r>
            <a:endParaRPr lang="pt-PT" sz="2400"/>
          </a:p>
          <a:p>
            <a:pPr lvl="0"/>
            <a:r>
              <a:rPr lang="pt-PT" sz="2400"/>
              <a:t>Remoção de caracteres inválidos; </a:t>
            </a:r>
          </a:p>
          <a:p>
            <a:pPr lvl="0"/>
            <a:r>
              <a:rPr lang="pt-PT" sz="2400"/>
              <a:t>Normalização de espaços e quebras de linha; </a:t>
            </a:r>
          </a:p>
          <a:p>
            <a:pPr lvl="0"/>
            <a:r>
              <a:rPr lang="pt-PT" sz="2400"/>
              <a:t>Correção da estrutura do texto; </a:t>
            </a:r>
          </a:p>
          <a:p>
            <a:pPr lvl="0"/>
            <a:r>
              <a:rPr lang="pt-PT" sz="2400"/>
              <a:t>Remoção de cabeçalhos e rodapés repetidos.</a:t>
            </a:r>
          </a:p>
          <a:p>
            <a:endParaRPr lang="pt-PT" sz="2400"/>
          </a:p>
        </p:txBody>
      </p:sp>
      <p:sp>
        <p:nvSpPr>
          <p:cNvPr id="17" name="Arc 11">
            <a:extLst>
              <a:ext uri="{FF2B5EF4-FFF2-40B4-BE49-F238E27FC236}">
                <a16:creationId xmlns:a16="http://schemas.microsoft.com/office/drawing/2014/main" id="{DA4B6E73-2318-4814-8EB1-306D53723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064111">
            <a:off x="-991925" y="5644752"/>
            <a:ext cx="2987899" cy="2987899"/>
          </a:xfrm>
          <a:prstGeom prst="arc">
            <a:avLst>
              <a:gd name="adj1" fmla="val 16200000"/>
              <a:gd name="adj2" fmla="val 21581479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086468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FE8E1B-B805-3BA1-029A-A00F98FE9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sz="3100" b="1"/>
              <a:t>3-Chunking do </a:t>
            </a:r>
            <a:r>
              <a:rPr lang="en-US" sz="3100" b="1" err="1"/>
              <a:t>Texto</a:t>
            </a:r>
            <a:r>
              <a:rPr lang="en-US" sz="3100" b="1"/>
              <a:t> (chunker.py)</a:t>
            </a:r>
            <a:br>
              <a:rPr lang="pt-PT" sz="3100"/>
            </a:br>
            <a:endParaRPr lang="pt-PT" sz="310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F4113E1-98B4-CF7C-CE26-D56654276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2149783"/>
            <a:ext cx="4777381" cy="238869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EB27178-4D6D-C133-F16E-99ABF33DE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200"/>
              <a:t>Este módulo divide o texto em blocos menores (</a:t>
            </a:r>
            <a:r>
              <a:rPr lang="pt-PT" sz="2200" i="1" err="1"/>
              <a:t>chunks</a:t>
            </a:r>
            <a:r>
              <a:rPr lang="pt-PT" sz="2200"/>
              <a:t>), facilitando o processamento por modelos com limite de contexto.</a:t>
            </a:r>
          </a:p>
          <a:p>
            <a:pPr marL="0" indent="0">
              <a:buNone/>
            </a:pPr>
            <a:r>
              <a:rPr lang="pt-PT" sz="2200" b="1"/>
              <a:t>Principais funções:</a:t>
            </a:r>
            <a:endParaRPr lang="pt-PT" sz="2200"/>
          </a:p>
          <a:p>
            <a:pPr lvl="0"/>
            <a:r>
              <a:rPr lang="pt-PT" sz="2200"/>
              <a:t>Divide o texto em segmentos equilibrados; </a:t>
            </a:r>
          </a:p>
          <a:p>
            <a:pPr lvl="0"/>
            <a:r>
              <a:rPr lang="pt-PT" sz="2200"/>
              <a:t>Controla o tamanho máximo de cada bloco; </a:t>
            </a:r>
          </a:p>
          <a:p>
            <a:pPr lvl="0"/>
            <a:r>
              <a:rPr lang="pt-PT" sz="2200"/>
              <a:t>Evita exceder os limites de entrada do modelo.</a:t>
            </a:r>
          </a:p>
          <a:p>
            <a:endParaRPr lang="pt-PT" sz="2200"/>
          </a:p>
        </p:txBody>
      </p:sp>
    </p:spTree>
    <p:extLst>
      <p:ext uri="{BB962C8B-B14F-4D97-AF65-F5344CB8AC3E}">
        <p14:creationId xmlns:p14="http://schemas.microsoft.com/office/powerpoint/2010/main" val="107100200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38C254-DC7A-3842-2448-A4BCE4B76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pt-PT" b="1" dirty="0"/>
              <a:t>4-Deteção de Idioma</a:t>
            </a:r>
            <a:br>
              <a:rPr lang="pt-PT" dirty="0"/>
            </a:br>
            <a:endParaRPr lang="pt-PT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901A23A-08D1-3578-C1FA-882B5D577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2001373"/>
            <a:ext cx="4777381" cy="2685509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7089836-A778-C010-7564-B35F1A19A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pt-PT" sz="2200"/>
              <a:t>Este módulo identifica automaticamente o idioma do texto utilizando a biblioteca </a:t>
            </a:r>
            <a:r>
              <a:rPr lang="pt-PT" sz="2200" b="1" err="1"/>
              <a:t>langdetect</a:t>
            </a:r>
            <a:r>
              <a:rPr lang="pt-PT" sz="2200"/>
              <a:t>, permitindo adaptar o processamento e os </a:t>
            </a:r>
            <a:r>
              <a:rPr lang="pt-PT" sz="2200" err="1"/>
              <a:t>prompts</a:t>
            </a:r>
            <a:r>
              <a:rPr lang="pt-PT" sz="2200"/>
              <a:t> ao contexto linguístico.</a:t>
            </a:r>
          </a:p>
          <a:p>
            <a:pPr marL="0" indent="0">
              <a:buNone/>
            </a:pPr>
            <a:r>
              <a:rPr lang="pt-PT" sz="2200" b="1"/>
              <a:t>Principais funções:</a:t>
            </a:r>
            <a:endParaRPr lang="pt-PT" sz="2200"/>
          </a:p>
          <a:p>
            <a:pPr lvl="0"/>
            <a:r>
              <a:rPr lang="pt-PT" sz="2200"/>
              <a:t>Identificação automática do idioma; </a:t>
            </a:r>
          </a:p>
          <a:p>
            <a:pPr lvl="0"/>
            <a:r>
              <a:rPr lang="pt-PT" sz="2200"/>
              <a:t>Retorno do código do idioma (ex.: </a:t>
            </a:r>
            <a:r>
              <a:rPr lang="pt-PT" sz="2200" err="1"/>
              <a:t>pt</a:t>
            </a:r>
            <a:r>
              <a:rPr lang="pt-PT" sz="2200"/>
              <a:t>, </a:t>
            </a:r>
            <a:r>
              <a:rPr lang="pt-PT" sz="2200" err="1"/>
              <a:t>en</a:t>
            </a:r>
            <a:r>
              <a:rPr lang="pt-PT" sz="2200"/>
              <a:t>); </a:t>
            </a:r>
          </a:p>
          <a:p>
            <a:pPr lvl="0"/>
            <a:r>
              <a:rPr lang="pt-PT" sz="2200"/>
              <a:t>Tratamento de erros para textos ambíguos ou muito curtos.</a:t>
            </a:r>
          </a:p>
          <a:p>
            <a:endParaRPr lang="pt-PT" sz="2200"/>
          </a:p>
        </p:txBody>
      </p:sp>
    </p:spTree>
    <p:extLst>
      <p:ext uri="{BB962C8B-B14F-4D97-AF65-F5344CB8AC3E}">
        <p14:creationId xmlns:p14="http://schemas.microsoft.com/office/powerpoint/2010/main" val="304841816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46177D-ADC4-4968-B747-5CFCD390B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8D85C7-775E-D1CE-1CF0-A84C90A7B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501" y="489508"/>
            <a:ext cx="5754896" cy="1667569"/>
          </a:xfrm>
        </p:spPr>
        <p:txBody>
          <a:bodyPr anchor="b">
            <a:normAutofit/>
          </a:bodyPr>
          <a:lstStyle/>
          <a:p>
            <a:r>
              <a:rPr lang="pt-PT" sz="3700" b="1"/>
              <a:t>5-Geração de Prompts (prompts.py)</a:t>
            </a:r>
            <a:br>
              <a:rPr lang="pt-PT" sz="3700"/>
            </a:br>
            <a:endParaRPr lang="pt-PT" sz="370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E915ECC-F453-CB63-2961-6C219E3E1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30" y="2452828"/>
            <a:ext cx="3876165" cy="1520649"/>
          </a:xfrm>
          <a:prstGeom prst="rect">
            <a:avLst/>
          </a:pr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D4FFA3C-F020-A7ED-B100-8BA02B154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6502" y="2405894"/>
            <a:ext cx="5754896" cy="3197464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t-PT" sz="2000"/>
              <a:t>Este módulo transforma o texto processado em instruções (</a:t>
            </a:r>
            <a:r>
              <a:rPr lang="pt-PT" sz="2000" i="1"/>
              <a:t>prompts</a:t>
            </a:r>
            <a:r>
              <a:rPr lang="pt-PT" sz="2000"/>
              <a:t>) adequadas ao modelo de linguagem, adaptando-as ao idioma identificado.</a:t>
            </a:r>
          </a:p>
          <a:p>
            <a:pPr marL="0" indent="0">
              <a:buNone/>
            </a:pPr>
            <a:r>
              <a:rPr lang="pt-PT" sz="2000" b="1"/>
              <a:t>Principais funções:</a:t>
            </a:r>
            <a:endParaRPr lang="pt-PT" sz="2000"/>
          </a:p>
          <a:p>
            <a:pPr lvl="0"/>
            <a:r>
              <a:rPr lang="pt-PT" sz="2000"/>
              <a:t>Seleciona o prompt conforme o idioma; </a:t>
            </a:r>
          </a:p>
          <a:p>
            <a:pPr lvl="0"/>
            <a:r>
              <a:rPr lang="pt-PT" sz="2000"/>
              <a:t>Insere o texto nas instruções definidas; </a:t>
            </a:r>
          </a:p>
          <a:p>
            <a:pPr lvl="0"/>
            <a:r>
              <a:rPr lang="pt-PT" sz="2000"/>
              <a:t>Padroniza a interação com o modelo.</a:t>
            </a:r>
          </a:p>
          <a:p>
            <a:endParaRPr lang="pt-PT" sz="2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44A943-BF79-4FEA-ABB1-3BD54D23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90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37CC72-F4A8-4DC3-AFAB-D22C482C8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3120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448566-3B62-357A-1EE2-293F5ED93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pt-PT" b="1">
                <a:solidFill>
                  <a:srgbClr val="FFFFFF"/>
                </a:solidFill>
              </a:rPr>
              <a:t>6-Integração com SLM (api.py)</a:t>
            </a:r>
            <a:br>
              <a:rPr lang="pt-PT">
                <a:solidFill>
                  <a:srgbClr val="FFFFFF"/>
                </a:solidFill>
              </a:rPr>
            </a:br>
            <a:endParaRPr lang="pt-PT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Marcador de Posição de Conteúdo 2">
            <a:extLst>
              <a:ext uri="{FF2B5EF4-FFF2-40B4-BE49-F238E27FC236}">
                <a16:creationId xmlns:a16="http://schemas.microsoft.com/office/drawing/2014/main" id="{A7C919AF-1205-05DC-71B2-80F13240B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PT"/>
              <a:t>Este módulo estabelece a comunicação entre a aplicação e o modelo de linguagem através de uma API HTTP, enviando os </a:t>
            </a:r>
            <a:r>
              <a:rPr lang="pt-PT" i="1" err="1"/>
              <a:t>prompts</a:t>
            </a:r>
            <a:r>
              <a:rPr lang="pt-PT"/>
              <a:t> e recebendo as respostas.</a:t>
            </a:r>
          </a:p>
          <a:p>
            <a:pPr marL="0" indent="0">
              <a:buNone/>
            </a:pPr>
            <a:r>
              <a:rPr lang="pt-PT" b="1"/>
              <a:t>Principais funções:</a:t>
            </a:r>
            <a:endParaRPr lang="pt-PT"/>
          </a:p>
          <a:p>
            <a:pPr lvl="0"/>
            <a:r>
              <a:rPr lang="pt-PT"/>
              <a:t>Envio de </a:t>
            </a:r>
            <a:r>
              <a:rPr lang="pt-PT" err="1"/>
              <a:t>prompts</a:t>
            </a:r>
            <a:r>
              <a:rPr lang="pt-PT"/>
              <a:t> para o modelo; </a:t>
            </a:r>
          </a:p>
          <a:p>
            <a:pPr lvl="0"/>
            <a:r>
              <a:rPr lang="pt-PT"/>
              <a:t>Receção das respostas em formato JSON; </a:t>
            </a:r>
          </a:p>
          <a:p>
            <a:pPr lvl="0"/>
            <a:r>
              <a:rPr lang="pt-PT"/>
              <a:t>Tratamento de erros de comunicação.</a:t>
            </a:r>
          </a:p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10468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F7D9E2-9254-5ABA-5A99-09D3E9AD5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sz="2800" b="1"/>
              <a:t>7-Interface Gráfica (</a:t>
            </a:r>
            <a:r>
              <a:rPr lang="en-US" sz="2800" b="1" err="1"/>
              <a:t>Streamlit</a:t>
            </a:r>
            <a:r>
              <a:rPr lang="en-US" sz="2800" b="1"/>
              <a:t> - app.py)</a:t>
            </a:r>
            <a:br>
              <a:rPr lang="pt-PT" sz="2800"/>
            </a:br>
            <a:endParaRPr lang="pt-PT" sz="280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2CD95DD-A5CD-729D-F8D9-6D6292D8A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82" y="2088359"/>
            <a:ext cx="4777381" cy="251153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04172FF-D7B0-D173-B477-D62EC09DB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1800"/>
              <a:t>Este módulo é responsável pela interface gráfica da aplicação, permitindo ao utilizador acompanhar e controlar todo o fluxo de processamento de texto. Através do </a:t>
            </a:r>
            <a:r>
              <a:rPr lang="pt-PT" sz="1800" err="1"/>
              <a:t>Streamlit</a:t>
            </a:r>
            <a:r>
              <a:rPr lang="pt-PT" sz="1800"/>
              <a:t>, é possível carregar documentos, visualizar o conteúdo extraído, configurar opções de limpeza e analisar os resultados obtidos em cada etapa da pipeline. Além disso, a interface facilita a interação com o modelo SLM e a geração do relatório final.</a:t>
            </a:r>
          </a:p>
          <a:p>
            <a:pPr marL="0" indent="0">
              <a:buNone/>
            </a:pPr>
            <a:r>
              <a:rPr lang="pt-PT" sz="1800" b="1"/>
              <a:t>Principais funcionalidades:</a:t>
            </a:r>
            <a:endParaRPr lang="pt-PT" sz="1800"/>
          </a:p>
          <a:p>
            <a:pPr lvl="0"/>
            <a:r>
              <a:rPr lang="pt-PT" sz="1800"/>
              <a:t>Upload e visualização de documentos; </a:t>
            </a:r>
          </a:p>
          <a:p>
            <a:pPr lvl="0"/>
            <a:r>
              <a:rPr lang="pt-PT" sz="1800"/>
              <a:t>Configuração das etapas de pré-processamento; </a:t>
            </a:r>
          </a:p>
          <a:p>
            <a:pPr lvl="0"/>
            <a:r>
              <a:rPr lang="pt-PT" sz="1800"/>
              <a:t>Visualização dos </a:t>
            </a:r>
            <a:r>
              <a:rPr lang="pt-PT" sz="1800" err="1"/>
              <a:t>chunks</a:t>
            </a:r>
            <a:r>
              <a:rPr lang="pt-PT" sz="1800"/>
              <a:t> e dos resultados gerados pelo modelo; </a:t>
            </a:r>
          </a:p>
          <a:p>
            <a:pPr lvl="0"/>
            <a:r>
              <a:rPr lang="pt-PT" sz="1800"/>
              <a:t>Exportação dos resultados para um relatório HTML.</a:t>
            </a:r>
          </a:p>
          <a:p>
            <a:endParaRPr lang="pt-PT" sz="1800"/>
          </a:p>
        </p:txBody>
      </p:sp>
    </p:spTree>
    <p:extLst>
      <p:ext uri="{BB962C8B-B14F-4D97-AF65-F5344CB8AC3E}">
        <p14:creationId xmlns:p14="http://schemas.microsoft.com/office/powerpoint/2010/main" val="703514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</Words>
  <Application>Microsoft Office PowerPoint</Application>
  <PresentationFormat>Ecrã Panorâmico</PresentationFormat>
  <Paragraphs>47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9" baseType="lpstr">
      <vt:lpstr>Tema do Office</vt:lpstr>
      <vt:lpstr>Objetivos do Projeto </vt:lpstr>
      <vt:lpstr> 1-Extração de Texto (extractor.py) </vt:lpstr>
      <vt:lpstr>2-Limpeza e Normalização (cleaner.py) </vt:lpstr>
      <vt:lpstr>3-Chunking do Texto (chunker.py) </vt:lpstr>
      <vt:lpstr>4-Deteção de Idioma </vt:lpstr>
      <vt:lpstr>5-Geração de Prompts (prompts.py) </vt:lpstr>
      <vt:lpstr>6-Integração com SLM (api.py) </vt:lpstr>
      <vt:lpstr>7-Interface Gráfica (Streamlit - app.py)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</dc:creator>
  <cp:lastModifiedBy>Andre</cp:lastModifiedBy>
  <cp:revision>39</cp:revision>
  <dcterms:created xsi:type="dcterms:W3CDTF">2026-06-04T18:04:54Z</dcterms:created>
  <dcterms:modified xsi:type="dcterms:W3CDTF">2026-06-04T18:18:48Z</dcterms:modified>
</cp:coreProperties>
</file>